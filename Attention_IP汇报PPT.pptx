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5" autoAdjust="0"/>
    <p:restoredTop sz="94676" autoAdjust="0"/>
  </p:normalViewPr>
  <p:slideViewPr>
    <p:cSldViewPr snapToGrid="0" snapToObjects="1">
      <p:cViewPr>
        <p:scale>
          <a:sx n="82" d="100"/>
          <a:sy n="82" d="100"/>
        </p:scale>
        <p:origin x="-1803" y="41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27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4523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开场：A</a:t>
            </a:r>
            <a:r>
              <a:rPr dirty="0"/>
              <a:t> </a:t>
            </a:r>
            <a:r>
              <a:rPr dirty="0" err="1"/>
              <a:t>题，做的是</a:t>
            </a:r>
            <a:r>
              <a:rPr dirty="0"/>
              <a:t> Attention </a:t>
            </a:r>
            <a:r>
              <a:rPr dirty="0" err="1"/>
              <a:t>加速器</a:t>
            </a:r>
            <a:r>
              <a:rPr dirty="0"/>
              <a:t> </a:t>
            </a:r>
            <a:r>
              <a:rPr dirty="0" err="1"/>
              <a:t>IP，一句话概括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zh-CN" dirty="0"/>
              <a:t>Attention 在硬件上的主要问题其实就是</a:t>
            </a:r>
            <a:r>
              <a:rPr lang="zh-CN" altLang="zh-CN" b="1" dirty="0"/>
              <a:t>算得多、存得多、搬得多</a:t>
            </a:r>
            <a:r>
              <a:rPr lang="zh-CN" altLang="zh-CN" dirty="0"/>
              <a:t>，所以后面我重点关注乘加、Buffer 和数据搬运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三步公式是核心，重点解释为什么先减 x_max。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zh-CN" dirty="0"/>
              <a:t>数据现在存在哪里、下一拍谁把它取出来、经过什么计算单元后又写到哪里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9 状态 FSM 逐段走一遍，说明 handshake 时序。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重点讲 18-bit Score 由来（65536 放不进 17-bit）和 ties-away-from-zero。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验证：Golden Model 独立性 + 固定种子 + 背对背 + 内部信号逐项断言。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zh-CN" altLang="en-US" dirty="0"/>
              <a:t>输出正确</a:t>
            </a:r>
            <a:r>
              <a:rPr lang="en-US" altLang="zh-CN" dirty="0"/>
              <a:t>2500</a:t>
            </a:r>
            <a:r>
              <a:rPr lang="zh-CN" altLang="en-US" dirty="0"/>
              <a:t>预期一致，</a:t>
            </a:r>
            <a:endParaRPr lang="en-US" altLang="zh-CN"/>
          </a:p>
          <a:p>
            <a:r>
              <a:rPr lang="zh-CN" altLang="zh-CN"/>
              <a:t>2</a:t>
            </a:r>
            <a:r>
              <a:rPr lang="zh-CN" altLang="zh-CN" dirty="0"/>
              <a:t>. out_valid 有效时序正确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out_valid</a:t>
            </a:r>
            <a:r>
              <a:rPr lang="zh-CN" altLang="zh-CN" dirty="0"/>
              <a:t> 连续保持高电平 4 个时钟周期，分别对应 4 个有效输出元素。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zh-CN" dirty="0"/>
              <a:t>是一种典型的</a:t>
            </a:r>
            <a:r>
              <a:rPr lang="zh-CN" altLang="zh-CN" b="1" dirty="0"/>
              <a:t>时间换面积</a:t>
            </a:r>
            <a:r>
              <a:rPr lang="zh-CN" altLang="zh-CN" dirty="0"/>
              <a:t>：少放乘法器，资源省，但周期会更多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收尾：一句话总结成果，请评委提问。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457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8268" y="1699439"/>
            <a:ext cx="106984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dirty="0">
                <a:latin typeface="微软雅黑"/>
                <a:ea typeface="微软雅黑"/>
              </a:rPr>
              <a:t>Attention </a:t>
            </a:r>
            <a:r>
              <a:rPr sz="4400" b="1" dirty="0" err="1">
                <a:latin typeface="微软雅黑"/>
                <a:ea typeface="微软雅黑"/>
              </a:rPr>
              <a:t>加速器</a:t>
            </a:r>
            <a:r>
              <a:rPr sz="4400" b="1" dirty="0">
                <a:latin typeface="微软雅黑"/>
                <a:ea typeface="微软雅黑"/>
              </a:rPr>
              <a:t> IP </a:t>
            </a:r>
            <a:r>
              <a:rPr sz="4400" b="1" dirty="0" err="1">
                <a:latin typeface="微软雅黑"/>
                <a:ea typeface="微软雅黑"/>
              </a:rPr>
              <a:t>设计与验证</a:t>
            </a:r>
            <a:endParaRPr sz="4400" b="1" dirty="0"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一个基础</a:t>
            </a:r>
            <a:r>
              <a:rPr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 Attention </a:t>
            </a:r>
            <a:r>
              <a:rPr sz="22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硬件</a:t>
            </a:r>
            <a:r>
              <a:rPr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 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数字组</a:t>
            </a:r>
            <a:r>
              <a:rPr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 A 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698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/>
                <a:ea typeface="微软雅黑"/>
              </a:rPr>
              <a:t>汇报人</a:t>
            </a:r>
            <a:r>
              <a:rPr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/>
                <a:ea typeface="微软雅黑"/>
              </a:rPr>
              <a:t>：__</a:t>
            </a:r>
            <a:r>
              <a:rPr lang="zh-CN" alt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/>
                <a:ea typeface="微软雅黑"/>
              </a:rPr>
              <a:t>王宇</a:t>
            </a:r>
            <a:r>
              <a:rPr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/>
                <a:ea typeface="微软雅黑"/>
              </a:rPr>
              <a:t>______    日期：___</a:t>
            </a:r>
            <a:r>
              <a:rPr 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/>
                <a:ea typeface="微软雅黑"/>
              </a:rPr>
              <a:t>10.12</a:t>
            </a:r>
            <a:r>
              <a:rPr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/>
                <a:ea typeface="微软雅黑"/>
              </a:rPr>
              <a:t>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-1"/>
            <a:ext cx="3675706" cy="1104523"/>
          </a:xfrm>
          <a:prstGeom prst="rect">
            <a:avLst/>
          </a:prstGeom>
          <a:solidFill>
            <a:schemeClr val="bg1">
              <a:lumMod val="75000"/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91440" bIns="36576" rtlCol="0" anchor="ctr"/>
          <a:lstStyle/>
          <a:p>
            <a:pPr algn="ctr"/>
            <a:r>
              <a:rPr sz="2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项目背景与设计目标</a:t>
            </a:r>
            <a:endParaRPr sz="2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3585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▪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背景：Transformer</a:t>
            </a: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 中 Attention = 用 Q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查询历史</a:t>
            </a: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Token，按相似度加权读取</a:t>
            </a: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 V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▪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硬件挑战：乘加量大、片上存储有限、外部访存是主要瓶颈</a:t>
            </a:r>
            <a:endParaRPr sz="17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 dirty="0">
                <a:latin typeface="微软雅黑"/>
                <a:ea typeface="微软雅黑"/>
              </a:rPr>
              <a:t>▪ </a:t>
            </a:r>
            <a:r>
              <a:rPr sz="1800" b="1" dirty="0" err="1">
                <a:latin typeface="微软雅黑"/>
                <a:ea typeface="微软雅黑"/>
              </a:rPr>
              <a:t>任务规模：Batch</a:t>
            </a:r>
            <a:r>
              <a:rPr sz="1800" b="1" dirty="0">
                <a:latin typeface="微软雅黑"/>
                <a:ea typeface="微软雅黑"/>
              </a:rPr>
              <a:t>/Head = 1/1，S = 8，d = 4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–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输入</a:t>
            </a: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 Q[1,4] / K[8,4] / V[8,4] →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输出</a:t>
            </a: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 O[1,4]（均 8-bit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有符号</a:t>
            </a: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）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 dirty="0">
                <a:latin typeface="微软雅黑"/>
                <a:ea typeface="微软雅黑"/>
              </a:rPr>
              <a:t>▪ </a:t>
            </a:r>
            <a:r>
              <a:rPr lang="zh-CN" altLang="en-US" b="1" dirty="0">
                <a:latin typeface="微软雅黑"/>
                <a:ea typeface="微软雅黑"/>
              </a:rPr>
              <a:t>五</a:t>
            </a:r>
            <a:r>
              <a:rPr sz="1800" b="1" dirty="0" err="1">
                <a:latin typeface="微软雅黑"/>
                <a:ea typeface="微软雅黑"/>
              </a:rPr>
              <a:t>大目标</a:t>
            </a:r>
            <a:endParaRPr sz="1800" b="1" dirty="0">
              <a:latin typeface="微软雅黑"/>
              <a:ea typeface="微软雅黑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lang="en-US" altLang="zh-CN" sz="1700" dirty="0">
                <a:solidFill>
                  <a:srgbClr val="333333"/>
                </a:solidFill>
                <a:latin typeface="微软雅黑"/>
                <a:ea typeface="微软雅黑"/>
              </a:rPr>
              <a:t>— </a:t>
            </a:r>
            <a:r>
              <a:rPr lang="zh-CN" altLang="en-US" sz="1700" dirty="0">
                <a:solidFill>
                  <a:srgbClr val="333333"/>
                </a:solidFill>
                <a:latin typeface="微软雅黑"/>
                <a:ea typeface="微软雅黑"/>
              </a:rPr>
              <a:t>正确性（</a:t>
            </a:r>
            <a:r>
              <a:rPr lang="en-US" sz="1700" dirty="0">
                <a:solidFill>
                  <a:srgbClr val="333333"/>
                </a:solidFill>
                <a:latin typeface="微软雅黑"/>
                <a:ea typeface="微软雅黑"/>
              </a:rPr>
              <a:t>Golden Model </a:t>
            </a:r>
            <a:r>
              <a:rPr lang="zh-CN" altLang="en-US" sz="1700" dirty="0">
                <a:solidFill>
                  <a:srgbClr val="333333"/>
                </a:solidFill>
                <a:latin typeface="微软雅黑"/>
                <a:ea typeface="微软雅黑"/>
              </a:rPr>
              <a:t>逐项验证）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lang="en-US" altLang="zh-CN" sz="1700" dirty="0">
                <a:solidFill>
                  <a:srgbClr val="333333"/>
                </a:solidFill>
                <a:latin typeface="微软雅黑"/>
                <a:ea typeface="微软雅黑"/>
              </a:rPr>
              <a:t>— </a:t>
            </a:r>
            <a:r>
              <a:rPr lang="zh-CN" altLang="en-US" sz="1700" dirty="0">
                <a:solidFill>
                  <a:srgbClr val="333333"/>
                </a:solidFill>
                <a:latin typeface="微软雅黑"/>
                <a:ea typeface="微软雅黑"/>
              </a:rPr>
              <a:t>数据通路（输入→</a:t>
            </a:r>
            <a:r>
              <a:rPr lang="en-US" sz="1700" dirty="0" err="1">
                <a:solidFill>
                  <a:srgbClr val="333333"/>
                </a:solidFill>
                <a:latin typeface="微软雅黑"/>
                <a:ea typeface="微软雅黑"/>
              </a:rPr>
              <a:t>Score→Weight→ACC→NORM</a:t>
            </a:r>
            <a:r>
              <a:rPr lang="en-US" sz="1700" dirty="0">
                <a:solidFill>
                  <a:srgbClr val="333333"/>
                </a:solidFill>
                <a:latin typeface="微软雅黑"/>
                <a:ea typeface="微软雅黑"/>
              </a:rPr>
              <a:t>→</a:t>
            </a:r>
            <a:r>
              <a:rPr lang="zh-CN" altLang="en-US" sz="1700" dirty="0">
                <a:solidFill>
                  <a:srgbClr val="333333"/>
                </a:solidFill>
                <a:latin typeface="微软雅黑"/>
                <a:ea typeface="微软雅黑"/>
              </a:rPr>
              <a:t>输出）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lang="en-US" altLang="zh-CN" sz="1700" dirty="0">
                <a:solidFill>
                  <a:srgbClr val="333333"/>
                </a:solidFill>
                <a:latin typeface="微软雅黑"/>
                <a:ea typeface="微软雅黑"/>
              </a:rPr>
              <a:t>— </a:t>
            </a:r>
            <a:r>
              <a:rPr lang="zh-CN" altLang="en-US" sz="1700" dirty="0">
                <a:solidFill>
                  <a:srgbClr val="333333"/>
                </a:solidFill>
                <a:latin typeface="微软雅黑"/>
                <a:ea typeface="微软雅黑"/>
              </a:rPr>
              <a:t>硬件实现（寄存器 </a:t>
            </a:r>
            <a:r>
              <a:rPr lang="en-US" altLang="zh-CN" sz="1700" dirty="0">
                <a:solidFill>
                  <a:srgbClr val="333333"/>
                </a:solidFill>
                <a:latin typeface="微软雅黑"/>
                <a:ea typeface="微软雅黑"/>
              </a:rPr>
              <a:t>/ </a:t>
            </a:r>
            <a:r>
              <a:rPr lang="en-US" sz="1700" dirty="0">
                <a:solidFill>
                  <a:srgbClr val="333333"/>
                </a:solidFill>
                <a:latin typeface="微软雅黑"/>
                <a:ea typeface="微软雅黑"/>
              </a:rPr>
              <a:t>Buffer / </a:t>
            </a:r>
            <a:r>
              <a:rPr lang="zh-CN" altLang="en-US" sz="1700" dirty="0">
                <a:solidFill>
                  <a:srgbClr val="333333"/>
                </a:solidFill>
                <a:latin typeface="微软雅黑"/>
                <a:ea typeface="微软雅黑"/>
              </a:rPr>
              <a:t>乘法器 </a:t>
            </a:r>
            <a:r>
              <a:rPr lang="en-US" altLang="zh-CN" sz="1700" dirty="0">
                <a:solidFill>
                  <a:srgbClr val="333333"/>
                </a:solidFill>
                <a:latin typeface="微软雅黑"/>
                <a:ea typeface="微软雅黑"/>
              </a:rPr>
              <a:t>/ </a:t>
            </a:r>
            <a:r>
              <a:rPr lang="en-US" sz="1700" dirty="0">
                <a:solidFill>
                  <a:srgbClr val="333333"/>
                </a:solidFill>
                <a:latin typeface="微软雅黑"/>
                <a:ea typeface="微软雅黑"/>
              </a:rPr>
              <a:t>LUT / FSM）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lang="en-US" sz="1700" dirty="0">
                <a:solidFill>
                  <a:srgbClr val="333333"/>
                </a:solidFill>
                <a:latin typeface="微软雅黑"/>
                <a:ea typeface="微软雅黑"/>
              </a:rPr>
              <a:t>— </a:t>
            </a:r>
            <a:r>
              <a:rPr lang="zh-CN" altLang="en-US" sz="1700" dirty="0">
                <a:solidFill>
                  <a:srgbClr val="333333"/>
                </a:solidFill>
                <a:latin typeface="微软雅黑"/>
                <a:ea typeface="微软雅黑"/>
              </a:rPr>
              <a:t>时序验证（</a:t>
            </a:r>
            <a:r>
              <a:rPr lang="en-US" sz="1700" dirty="0">
                <a:solidFill>
                  <a:srgbClr val="333333"/>
                </a:solidFill>
                <a:latin typeface="微软雅黑"/>
                <a:ea typeface="微软雅黑"/>
              </a:rPr>
              <a:t>start / valid / ready / done）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lang="en-US" sz="1700" dirty="0">
                <a:solidFill>
                  <a:srgbClr val="333333"/>
                </a:solidFill>
                <a:latin typeface="微软雅黑"/>
                <a:ea typeface="微软雅黑"/>
              </a:rPr>
              <a:t>— </a:t>
            </a:r>
            <a:r>
              <a:rPr lang="zh-CN" altLang="en-US" sz="1700" dirty="0">
                <a:solidFill>
                  <a:srgbClr val="333333"/>
                </a:solidFill>
                <a:latin typeface="微软雅黑"/>
                <a:ea typeface="微软雅黑"/>
              </a:rPr>
              <a:t>性能分析（周期 </a:t>
            </a:r>
            <a:r>
              <a:rPr lang="en-US" altLang="zh-CN" sz="1700" dirty="0">
                <a:solidFill>
                  <a:srgbClr val="333333"/>
                </a:solidFill>
                <a:latin typeface="微软雅黑"/>
                <a:ea typeface="微软雅黑"/>
              </a:rPr>
              <a:t>/ </a:t>
            </a:r>
            <a:r>
              <a:rPr lang="zh-CN" altLang="en-US" sz="1700" dirty="0">
                <a:solidFill>
                  <a:srgbClr val="333333"/>
                </a:solidFill>
                <a:latin typeface="微软雅黑"/>
                <a:ea typeface="微软雅黑"/>
              </a:rPr>
              <a:t>资源 </a:t>
            </a:r>
            <a:r>
              <a:rPr lang="en-US" altLang="zh-CN" sz="1700" dirty="0">
                <a:solidFill>
                  <a:srgbClr val="333333"/>
                </a:solidFill>
                <a:latin typeface="微软雅黑"/>
                <a:ea typeface="微软雅黑"/>
              </a:rPr>
              <a:t>/ </a:t>
            </a:r>
            <a:r>
              <a:rPr lang="zh-CN" altLang="en-US" sz="1700" dirty="0">
                <a:solidFill>
                  <a:srgbClr val="333333"/>
                </a:solidFill>
                <a:latin typeface="微软雅黑"/>
                <a:ea typeface="微软雅黑"/>
              </a:rPr>
              <a:t>存储及 </a:t>
            </a:r>
            <a:r>
              <a:rPr lang="en-US" sz="1700" dirty="0">
                <a:solidFill>
                  <a:srgbClr val="333333"/>
                </a:solidFill>
                <a:latin typeface="微软雅黑"/>
                <a:ea typeface="微软雅黑"/>
              </a:rPr>
              <a:t>S </a:t>
            </a:r>
            <a:r>
              <a:rPr lang="zh-CN" altLang="en-US" sz="1700" dirty="0">
                <a:solidFill>
                  <a:srgbClr val="333333"/>
                </a:solidFill>
                <a:latin typeface="微软雅黑"/>
                <a:ea typeface="微软雅黑"/>
              </a:rPr>
              <a:t>扩展）</a:t>
            </a:r>
            <a:endParaRPr sz="17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63374" y="216831"/>
            <a:ext cx="2969537" cy="52600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91440" bIns="36576" rtlCol="0" anchor="ctr"/>
          <a:lstStyle/>
          <a:p>
            <a:pPr algn="ctr"/>
            <a:r>
              <a:rPr sz="2600" b="1" dirty="0" err="1">
                <a:solidFill>
                  <a:schemeClr val="tx1"/>
                </a:solidFill>
                <a:latin typeface="微软雅黑"/>
                <a:ea typeface="微软雅黑"/>
              </a:rPr>
              <a:t>算法：三步计算</a:t>
            </a:r>
            <a:endParaRPr sz="2600" b="1" dirty="0">
              <a:solidFill>
                <a:schemeClr val="tx1"/>
              </a:solidFill>
              <a:latin typeface="微软雅黑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6898856" cy="4947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 dirty="0">
                <a:latin typeface="微软雅黑"/>
                <a:ea typeface="微软雅黑"/>
              </a:rPr>
              <a:t>▪ ① </a:t>
            </a:r>
            <a:r>
              <a:rPr sz="1800" b="1" dirty="0" err="1">
                <a:latin typeface="微软雅黑"/>
                <a:ea typeface="微软雅黑"/>
              </a:rPr>
              <a:t>Score（点积</a:t>
            </a:r>
            <a:r>
              <a:rPr sz="1800" b="1" dirty="0">
                <a:latin typeface="微软雅黑"/>
                <a:ea typeface="微软雅黑"/>
              </a:rPr>
              <a:t>）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700" b="0" dirty="0">
                <a:latin typeface="微软雅黑"/>
                <a:ea typeface="微软雅黑"/>
              </a:rPr>
              <a:t>– scoreⱼ = Σₖ Q[k] · Kⱼ[k]，</a:t>
            </a:r>
            <a:r>
              <a:rPr lang="en-US" sz="1700" b="0" dirty="0">
                <a:latin typeface="微软雅黑"/>
                <a:ea typeface="微软雅黑"/>
              </a:rPr>
              <a:t>8</a:t>
            </a:r>
            <a:r>
              <a:rPr lang="zh-CN" altLang="en-US" sz="1700" dirty="0">
                <a:latin typeface="微软雅黑"/>
                <a:ea typeface="微软雅黑"/>
              </a:rPr>
              <a:t>个</a:t>
            </a:r>
            <a:r>
              <a:rPr lang="en-US" altLang="zh-CN" sz="1700" dirty="0">
                <a:latin typeface="微软雅黑"/>
                <a:ea typeface="微软雅黑"/>
              </a:rPr>
              <a:t>score</a:t>
            </a:r>
            <a:r>
              <a:rPr lang="zh-CN" altLang="en-US" sz="1700" dirty="0">
                <a:latin typeface="微软雅黑"/>
                <a:ea typeface="微软雅黑"/>
              </a:rPr>
              <a:t>共需</a:t>
            </a:r>
            <a:r>
              <a:rPr lang="en-US" altLang="zh-CN" sz="1700" dirty="0">
                <a:latin typeface="微软雅黑"/>
                <a:ea typeface="微软雅黑"/>
              </a:rPr>
              <a:t>8×4=32</a:t>
            </a:r>
            <a:r>
              <a:rPr lang="zh-CN" altLang="en-US" sz="1700" dirty="0">
                <a:latin typeface="微软雅黑"/>
                <a:ea typeface="微软雅黑"/>
              </a:rPr>
              <a:t>次乘法</a:t>
            </a:r>
            <a:endParaRPr sz="1700" b="0" dirty="0">
              <a:latin typeface="微软雅黑"/>
              <a:ea typeface="微软雅黑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 dirty="0">
                <a:latin typeface="微软雅黑"/>
                <a:ea typeface="微软雅黑"/>
              </a:rPr>
              <a:t>▪ ② </a:t>
            </a:r>
            <a:r>
              <a:rPr sz="1800" b="1" dirty="0" err="1">
                <a:latin typeface="微软雅黑"/>
                <a:ea typeface="微软雅黑"/>
              </a:rPr>
              <a:t>Softmax</a:t>
            </a:r>
            <a:endParaRPr sz="1800" b="1" dirty="0">
              <a:latin typeface="微软雅黑"/>
              <a:ea typeface="微软雅黑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700" b="0" dirty="0">
                <a:latin typeface="微软雅黑"/>
                <a:ea typeface="微软雅黑"/>
              </a:rPr>
              <a:t>– </a:t>
            </a:r>
            <a:r>
              <a:rPr sz="1700" b="0" dirty="0" err="1">
                <a:latin typeface="微软雅黑"/>
                <a:ea typeface="微软雅黑"/>
              </a:rPr>
              <a:t>x_max</a:t>
            </a:r>
            <a:r>
              <a:rPr sz="1700" b="0" dirty="0">
                <a:latin typeface="微软雅黑"/>
                <a:ea typeface="微软雅黑"/>
              </a:rPr>
              <a:t> = max(score)；weightⱼ = exp(scoreⱼ − </a:t>
            </a:r>
            <a:r>
              <a:rPr sz="1700" b="0" dirty="0" err="1">
                <a:latin typeface="微软雅黑"/>
                <a:ea typeface="微软雅黑"/>
              </a:rPr>
              <a:t>x_max</a:t>
            </a:r>
            <a:r>
              <a:rPr sz="1700" b="0" dirty="0">
                <a:latin typeface="微软雅黑"/>
                <a:ea typeface="微软雅黑"/>
              </a:rPr>
              <a:t>)，weight 为 UQ1.4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700" b="0" dirty="0">
                <a:latin typeface="微软雅黑"/>
                <a:ea typeface="微软雅黑"/>
              </a:rPr>
              <a:t>– </a:t>
            </a:r>
            <a:r>
              <a:rPr sz="1700" b="0" dirty="0" err="1">
                <a:latin typeface="微软雅黑"/>
                <a:ea typeface="微软雅黑"/>
              </a:rPr>
              <a:t>先减</a:t>
            </a:r>
            <a:r>
              <a:rPr sz="1700" b="0" dirty="0">
                <a:latin typeface="微软雅黑"/>
                <a:ea typeface="微软雅黑"/>
              </a:rPr>
              <a:t> </a:t>
            </a:r>
            <a:r>
              <a:rPr sz="1700" b="0" dirty="0" err="1">
                <a:latin typeface="微软雅黑"/>
                <a:ea typeface="微软雅黑"/>
              </a:rPr>
              <a:t>x_max：指数输入</a:t>
            </a:r>
            <a:r>
              <a:rPr sz="1700" b="0" dirty="0">
                <a:latin typeface="微软雅黑"/>
                <a:ea typeface="微软雅黑"/>
              </a:rPr>
              <a:t> ≤ 0，数值稳定、利于定点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 dirty="0">
                <a:latin typeface="微软雅黑"/>
                <a:ea typeface="微软雅黑"/>
              </a:rPr>
              <a:t>▪ ③ </a:t>
            </a:r>
            <a:r>
              <a:rPr sz="1800" b="1" dirty="0" err="1">
                <a:latin typeface="微软雅黑"/>
                <a:ea typeface="微软雅黑"/>
              </a:rPr>
              <a:t>加权求和与归一化</a:t>
            </a:r>
            <a:endParaRPr sz="1800" b="1" dirty="0">
              <a:latin typeface="微软雅黑"/>
              <a:ea typeface="微软雅黑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700" b="0" dirty="0">
                <a:latin typeface="微软雅黑"/>
                <a:ea typeface="微软雅黑"/>
              </a:rPr>
              <a:t>– L = Σ weightⱼ；ACC[d] = Σⱼ weightⱼ · Vⱼ[d]；O[d] = round(ACC[d]/L)</a:t>
            </a:r>
            <a:endParaRPr lang="en-US" sz="1700" b="0" dirty="0">
              <a:latin typeface="微软雅黑"/>
              <a:ea typeface="微软雅黑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endParaRPr lang="en-US" sz="1700" dirty="0">
              <a:latin typeface="微软雅黑"/>
              <a:ea typeface="微软雅黑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endParaRPr lang="en-US" sz="1700" dirty="0">
              <a:latin typeface="微软雅黑"/>
              <a:ea typeface="微软雅黑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lang="zh-CN" altLang="en-US" sz="1700" b="0" dirty="0">
                <a:latin typeface="微软雅黑"/>
                <a:ea typeface="微软雅黑"/>
              </a:rPr>
              <a:t>指数函数实现调研（</a:t>
            </a:r>
            <a:r>
              <a:rPr lang="en-US" altLang="zh-CN" sz="1700" b="0" dirty="0">
                <a:latin typeface="微软雅黑"/>
                <a:ea typeface="微软雅黑"/>
              </a:rPr>
              <a:t>E</a:t>
            </a:r>
            <a:r>
              <a:rPr lang="zh-CN" altLang="en-US" sz="1700" b="0" dirty="0">
                <a:latin typeface="微软雅黑"/>
                <a:ea typeface="微软雅黑"/>
              </a:rPr>
              <a:t>加分项）：</a:t>
            </a:r>
            <a:endParaRPr lang="en-US" altLang="zh-CN" sz="1700" b="0" dirty="0">
              <a:latin typeface="微软雅黑"/>
              <a:ea typeface="微软雅黑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lang="zh-CN" altLang="en-US" sz="1700" b="0" dirty="0">
                <a:latin typeface="微软雅黑"/>
                <a:ea typeface="微软雅黑"/>
              </a:rPr>
              <a:t>硬件中常见方法包括直接 </a:t>
            </a:r>
            <a:r>
              <a:rPr lang="en-US" altLang="zh-CN" sz="1700" b="0" dirty="0">
                <a:latin typeface="微软雅黑"/>
                <a:ea typeface="微软雅黑"/>
              </a:rPr>
              <a:t>LUT</a:t>
            </a:r>
            <a:r>
              <a:rPr lang="zh-CN" altLang="en-US" sz="1700" b="0" dirty="0">
                <a:latin typeface="微软雅黑"/>
                <a:ea typeface="微软雅黑"/>
              </a:rPr>
              <a:t>、分段线性近</a:t>
            </a:r>
            <a:r>
              <a:rPr lang="zh-CN" altLang="en-US" sz="1700" b="0" dirty="0">
                <a:solidFill>
                  <a:srgbClr val="333333"/>
                </a:solidFill>
                <a:latin typeface="微软雅黑"/>
                <a:ea typeface="微软雅黑"/>
              </a:rPr>
              <a:t>似、多项式近似和 </a:t>
            </a:r>
            <a:r>
              <a:rPr lang="en-US" altLang="zh-CN" sz="1700" b="0" dirty="0">
                <a:solidFill>
                  <a:srgbClr val="333333"/>
                </a:solidFill>
                <a:latin typeface="微软雅黑"/>
                <a:ea typeface="微软雅黑"/>
              </a:rPr>
              <a:t>CORDIC</a:t>
            </a:r>
            <a:r>
              <a:rPr lang="zh-CN" altLang="en-US" sz="1700" b="0" dirty="0">
                <a:solidFill>
                  <a:srgbClr val="333333"/>
                </a:solidFill>
                <a:latin typeface="微软雅黑"/>
                <a:ea typeface="微软雅黑"/>
              </a:rPr>
              <a:t>。本设计采用直接 </a:t>
            </a:r>
            <a:r>
              <a:rPr lang="en-US" altLang="zh-CN" sz="1700" b="0" dirty="0">
                <a:solidFill>
                  <a:srgbClr val="333333"/>
                </a:solidFill>
                <a:latin typeface="微软雅黑"/>
                <a:ea typeface="微软雅黑"/>
              </a:rPr>
              <a:t>LUT</a:t>
            </a:r>
            <a:r>
              <a:rPr lang="zh-CN" altLang="en-US" sz="1700" b="0" dirty="0">
                <a:solidFill>
                  <a:srgbClr val="333333"/>
                </a:solidFill>
                <a:latin typeface="微软雅黑"/>
                <a:ea typeface="微软雅黑"/>
              </a:rPr>
              <a:t>，优点是结构简单、延时低；后续可采用分段线性近似，在精度和资源之间进一步折中。</a:t>
            </a:r>
            <a:endParaRPr sz="17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839D9C4-93E8-F41D-AC20-7B53E10D7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879" y="155470"/>
            <a:ext cx="2194269" cy="6547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748135" cy="1005840"/>
          </a:xfrm>
          <a:prstGeom prst="rect">
            <a:avLst/>
          </a:prstGeom>
          <a:solidFill>
            <a:srgbClr val="1F3B63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91440" bIns="36576" rtlCol="0" anchor="ctr"/>
          <a:lstStyle/>
          <a:p>
            <a:pPr algn="ctr"/>
            <a:r>
              <a:rPr sz="2600" b="1" dirty="0" err="1">
                <a:solidFill>
                  <a:schemeClr val="tx1"/>
                </a:solidFill>
                <a:latin typeface="微软雅黑"/>
                <a:ea typeface="微软雅黑"/>
              </a:rPr>
              <a:t>整体架构与模块划分</a:t>
            </a:r>
            <a:endParaRPr sz="2600" b="1" dirty="0">
              <a:solidFill>
                <a:schemeClr val="tx1"/>
              </a:solidFill>
              <a:latin typeface="微软雅黑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6583" y="1280160"/>
            <a:ext cx="6928617" cy="3347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 dirty="0">
                <a:latin typeface="微软雅黑"/>
                <a:ea typeface="微软雅黑"/>
              </a:rPr>
              <a:t>▪ </a:t>
            </a:r>
            <a:r>
              <a:rPr sz="1800" b="1" dirty="0" err="1">
                <a:latin typeface="微软雅黑"/>
                <a:ea typeface="微软雅黑"/>
              </a:rPr>
              <a:t>attention_ip（顶层</a:t>
            </a:r>
            <a:r>
              <a:rPr sz="1800" b="1" dirty="0">
                <a:latin typeface="微软雅黑"/>
                <a:ea typeface="微软雅黑"/>
              </a:rPr>
              <a:t>）：9 </a:t>
            </a:r>
            <a:r>
              <a:rPr sz="1800" b="1" dirty="0" err="1">
                <a:latin typeface="微软雅黑"/>
                <a:ea typeface="微软雅黑"/>
              </a:rPr>
              <a:t>状态</a:t>
            </a:r>
            <a:r>
              <a:rPr sz="1800" b="1" dirty="0">
                <a:latin typeface="微软雅黑"/>
                <a:ea typeface="微软雅黑"/>
              </a:rPr>
              <a:t> FSM + </a:t>
            </a:r>
            <a:r>
              <a:rPr sz="1800" b="1" dirty="0" err="1">
                <a:latin typeface="微软雅黑"/>
                <a:ea typeface="微软雅黑"/>
              </a:rPr>
              <a:t>数据通路</a:t>
            </a:r>
            <a:endParaRPr sz="1800" b="1" dirty="0">
              <a:latin typeface="微软雅黑"/>
              <a:ea typeface="微软雅黑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700" b="0" dirty="0">
                <a:latin typeface="微软雅黑"/>
                <a:ea typeface="微软雅黑"/>
              </a:rPr>
              <a:t>– Q-Reg / K,V Buffer / Score Buffer / Weight Buffer / L,ACC </a:t>
            </a:r>
            <a:r>
              <a:rPr sz="1700" b="0" dirty="0" err="1">
                <a:latin typeface="微软雅黑"/>
                <a:ea typeface="微软雅黑"/>
              </a:rPr>
              <a:t>寄存器</a:t>
            </a:r>
            <a:r>
              <a:rPr sz="1700" b="0" dirty="0">
                <a:latin typeface="微软雅黑"/>
                <a:ea typeface="微软雅黑"/>
              </a:rPr>
              <a:t> / </a:t>
            </a:r>
            <a:r>
              <a:rPr sz="1700" b="0" dirty="0" err="1">
                <a:latin typeface="微软雅黑"/>
                <a:ea typeface="微软雅黑"/>
              </a:rPr>
              <a:t>归一化</a:t>
            </a:r>
            <a:endParaRPr sz="1700" b="0" dirty="0">
              <a:latin typeface="微软雅黑"/>
              <a:ea typeface="微软雅黑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 dirty="0">
                <a:latin typeface="微软雅黑"/>
                <a:ea typeface="微软雅黑"/>
              </a:rPr>
              <a:t>▪ exp_lut：指数查找表（x：18-bit → weight：UQ1.4，5-bit）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 dirty="0">
                <a:latin typeface="微软雅黑"/>
                <a:ea typeface="微软雅黑"/>
              </a:rPr>
              <a:t>▪ </a:t>
            </a:r>
            <a:r>
              <a:rPr sz="1800" b="1" dirty="0" err="1">
                <a:latin typeface="微软雅黑"/>
                <a:ea typeface="微软雅黑"/>
              </a:rPr>
              <a:t>代码特点</a:t>
            </a:r>
            <a:endParaRPr sz="1800" b="1" dirty="0">
              <a:latin typeface="微软雅黑"/>
              <a:ea typeface="微软雅黑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700" b="0" dirty="0">
                <a:latin typeface="微软雅黑"/>
                <a:ea typeface="微软雅黑"/>
              </a:rPr>
              <a:t>– </a:t>
            </a:r>
            <a:r>
              <a:rPr sz="1700" b="0" dirty="0" err="1">
                <a:latin typeface="微软雅黑"/>
                <a:ea typeface="微软雅黑"/>
              </a:rPr>
              <a:t>点积、weight×V</a:t>
            </a:r>
            <a:r>
              <a:rPr sz="1700" b="0" dirty="0">
                <a:latin typeface="微软雅黑"/>
                <a:ea typeface="微软雅黑"/>
              </a:rPr>
              <a:t> </a:t>
            </a:r>
            <a:r>
              <a:rPr sz="1700" b="0" dirty="0" err="1">
                <a:latin typeface="微软雅黑"/>
                <a:ea typeface="微软雅黑"/>
              </a:rPr>
              <a:t>各复用一个组合乘法器</a:t>
            </a:r>
            <a:r>
              <a:rPr sz="1700" b="0" dirty="0">
                <a:latin typeface="微软雅黑"/>
                <a:ea typeface="微软雅黑"/>
              </a:rPr>
              <a:t> → </a:t>
            </a:r>
            <a:r>
              <a:rPr sz="1700" b="0" dirty="0" err="1">
                <a:latin typeface="微软雅黑"/>
                <a:ea typeface="微软雅黑"/>
              </a:rPr>
              <a:t>综合后</a:t>
            </a:r>
            <a:r>
              <a:rPr sz="1700" b="0" dirty="0">
                <a:latin typeface="微软雅黑"/>
                <a:ea typeface="微软雅黑"/>
              </a:rPr>
              <a:t> 0 DSP</a:t>
            </a:r>
            <a:r>
              <a:rPr lang="zh-CN" altLang="en-US" sz="1700" b="0" dirty="0">
                <a:latin typeface="微软雅黑"/>
                <a:ea typeface="微软雅黑"/>
              </a:rPr>
              <a:t>（分四个周期完成一次点积）</a:t>
            </a:r>
            <a:endParaRPr sz="1700" b="0" dirty="0">
              <a:latin typeface="微软雅黑"/>
              <a:ea typeface="微软雅黑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700" b="0" dirty="0">
                <a:latin typeface="微软雅黑"/>
                <a:ea typeface="微软雅黑"/>
              </a:rPr>
              <a:t>– K/V </a:t>
            </a:r>
            <a:r>
              <a:rPr sz="1700" b="0" dirty="0" err="1">
                <a:latin typeface="微软雅黑"/>
                <a:ea typeface="微软雅黑"/>
              </a:rPr>
              <a:t>寻址用位拼接</a:t>
            </a:r>
            <a:r>
              <a:rPr sz="1700" b="0" dirty="0">
                <a:latin typeface="微软雅黑"/>
                <a:ea typeface="微软雅黑"/>
              </a:rPr>
              <a:t> {</a:t>
            </a:r>
            <a:r>
              <a:rPr sz="1700" b="0" dirty="0" err="1">
                <a:latin typeface="微软雅黑"/>
                <a:ea typeface="微软雅黑"/>
              </a:rPr>
              <a:t>token_cnt</a:t>
            </a:r>
            <a:r>
              <a:rPr sz="1700" b="0" dirty="0">
                <a:latin typeface="微软雅黑"/>
                <a:ea typeface="微软雅黑"/>
              </a:rPr>
              <a:t>, </a:t>
            </a:r>
            <a:r>
              <a:rPr sz="1700" b="0" dirty="0" err="1">
                <a:latin typeface="微软雅黑"/>
                <a:ea typeface="微软雅黑"/>
              </a:rPr>
              <a:t>dim_cnt</a:t>
            </a:r>
            <a:r>
              <a:rPr sz="1700" b="0" dirty="0">
                <a:latin typeface="微软雅黑"/>
                <a:ea typeface="微软雅黑"/>
              </a:rPr>
              <a:t>}（d=4=2²），</a:t>
            </a:r>
            <a:r>
              <a:rPr sz="1700" b="0" dirty="0" err="1">
                <a:latin typeface="微软雅黑"/>
                <a:ea typeface="微软雅黑"/>
              </a:rPr>
              <a:t>免乘法</a:t>
            </a:r>
            <a:endParaRPr sz="1700" b="0" dirty="0">
              <a:latin typeface="微软雅黑"/>
              <a:ea typeface="微软雅黑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700" b="0" dirty="0">
                <a:latin typeface="微软雅黑"/>
                <a:ea typeface="微软雅黑"/>
              </a:rPr>
              <a:t>– 纯 LUT/FF </a:t>
            </a:r>
            <a:r>
              <a:rPr sz="1700" b="0" dirty="0" err="1">
                <a:latin typeface="微软雅黑"/>
                <a:ea typeface="微软雅黑"/>
              </a:rPr>
              <a:t>实现，无</a:t>
            </a:r>
            <a:r>
              <a:rPr sz="1700" b="0" dirty="0">
                <a:latin typeface="微软雅黑"/>
                <a:ea typeface="微软雅黑"/>
              </a:rPr>
              <a:t> </a:t>
            </a:r>
            <a:r>
              <a:rPr sz="1700" b="0" dirty="0" err="1">
                <a:latin typeface="微软雅黑"/>
                <a:ea typeface="微软雅黑"/>
              </a:rPr>
              <a:t>DSP、无</a:t>
            </a:r>
            <a:r>
              <a:rPr sz="1700" b="0" dirty="0">
                <a:latin typeface="微软雅黑"/>
                <a:ea typeface="微软雅黑"/>
              </a:rPr>
              <a:t> BRAM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6E5F9CE-AA9D-D30C-5496-730533EEA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279" y="149755"/>
            <a:ext cx="2194269" cy="6547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03279" cy="1005840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91440" bIns="36576" rtlCol="0" anchor="ctr"/>
          <a:lstStyle/>
          <a:p>
            <a:pPr algn="ctr"/>
            <a:r>
              <a:rPr sz="2600" b="1" dirty="0" err="1">
                <a:solidFill>
                  <a:schemeClr val="tx1"/>
                </a:solidFill>
                <a:latin typeface="微软雅黑"/>
                <a:ea typeface="微软雅黑"/>
              </a:rPr>
              <a:t>状态机与接口时序</a:t>
            </a:r>
            <a:endParaRPr sz="2600" b="1" dirty="0">
              <a:solidFill>
                <a:schemeClr val="tx1"/>
              </a:solidFill>
              <a:latin typeface="微软雅黑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3076" y="1779189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 dirty="0">
                <a:latin typeface="微软雅黑"/>
                <a:ea typeface="微软雅黑"/>
              </a:rPr>
              <a:t>▪ 9 </a:t>
            </a:r>
            <a:r>
              <a:rPr sz="1800" b="1" dirty="0" err="1">
                <a:latin typeface="微软雅黑"/>
                <a:ea typeface="微软雅黑"/>
              </a:rPr>
              <a:t>状态</a:t>
            </a:r>
            <a:r>
              <a:rPr sz="1800" b="1" dirty="0">
                <a:latin typeface="微软雅黑"/>
                <a:ea typeface="微软雅黑"/>
              </a:rPr>
              <a:t> FSM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120" y="2545844"/>
            <a:ext cx="488523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latin typeface="微软雅黑"/>
                <a:ea typeface="微软雅黑"/>
              </a:rPr>
              <a:t>IDLE → LOAD_Q → LOAD_KV → DOT → MAX → EXP → ACCUM → NORM → OUTPUT → IDLE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76" y="4670003"/>
            <a:ext cx="10972800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 dirty="0">
                <a:latin typeface="微软雅黑"/>
                <a:ea typeface="微软雅黑"/>
              </a:rPr>
              <a:t>▪ </a:t>
            </a:r>
            <a:r>
              <a:rPr sz="1800" b="1" dirty="0" err="1">
                <a:latin typeface="微软雅黑"/>
                <a:ea typeface="微软雅黑"/>
              </a:rPr>
              <a:t>接口握手</a:t>
            </a:r>
            <a:endParaRPr sz="1800" b="1" dirty="0">
              <a:latin typeface="微软雅黑"/>
              <a:ea typeface="微软雅黑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– start 拉 1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拍启动；q_valid</a:t>
            </a: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 /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kv_valid</a:t>
            </a: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表示输入有效</a:t>
            </a:r>
            <a:endParaRPr sz="17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–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data_ready</a:t>
            </a: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=1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才可发数；out_valid</a:t>
            </a: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=1 时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out_data</a:t>
            </a: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 有效（4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个元素</a:t>
            </a: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）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– done 拉 1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拍后返回</a:t>
            </a: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 IDLE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54FC9AC-A0F2-40D2-2B16-A72B3A9E2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984" y="1691640"/>
            <a:ext cx="5682896" cy="30170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55549" cy="1005840"/>
          </a:xfrm>
          <a:prstGeom prst="rect">
            <a:avLst/>
          </a:prstGeom>
          <a:solidFill>
            <a:srgbClr val="1F3B63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91440" bIns="36576" rtlCol="0" anchor="ctr"/>
          <a:lstStyle/>
          <a:p>
            <a:pPr algn="ctr"/>
            <a:r>
              <a:rPr sz="2600" b="1">
                <a:solidFill>
                  <a:schemeClr val="tx1"/>
                </a:solidFill>
                <a:latin typeface="微软雅黑"/>
                <a:ea typeface="微软雅黑"/>
              </a:rPr>
              <a:t>位宽设计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007301"/>
              </p:ext>
            </p:extLst>
          </p:nvPr>
        </p:nvGraphicFramePr>
        <p:xfrm>
          <a:off x="640080" y="1188720"/>
          <a:ext cx="109728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信号</a:t>
                      </a:r>
                      <a:endParaRPr sz="1200" b="1" dirty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位宽</a:t>
                      </a:r>
                      <a:endParaRPr sz="1200" b="1" dirty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推导依据</a:t>
                      </a:r>
                      <a:endParaRPr sz="1200" b="1" dirty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Q/K/V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8-bit 有符号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输入约定</a:t>
                      </a:r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 [-128, 127]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18-bit 有符号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 项点积 max = 4×16384 = 65536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score−</a:t>
                      </a:r>
                      <a:r>
                        <a:rPr sz="120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x_max</a:t>
                      </a:r>
                      <a:endParaRPr sz="1200" b="0" dirty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18-bit 有符号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最坏 −65024−65536 = −130560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UQ1.4（5-bit）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exp∈(0,1]，×16 ∈ [0,16]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L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8-bit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≤ 8×16 = 128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16-bit 有符号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≤ 8×16×128 = 16384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8-bit 有符号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饱和到</a:t>
                      </a:r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 [-128,127]，与 V </a:t>
                      </a:r>
                      <a:r>
                        <a:rPr sz="120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同宽</a:t>
                      </a:r>
                      <a:endParaRPr sz="1200" b="0" dirty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>
                    <a:solidFill>
                      <a:srgbClr val="EE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0292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▪ 四舍五入：nearest、ties-away-from-zero（±3.5 → ±4），RTL 与 Golden Model 一致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2100404" cy="1005840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91440" bIns="36576" rtlCol="0" anchor="ctr"/>
          <a:lstStyle/>
          <a:p>
            <a:pPr algn="ctr"/>
            <a:r>
              <a:rPr sz="2600" b="1">
                <a:solidFill>
                  <a:schemeClr val="tx1"/>
                </a:solidFill>
                <a:latin typeface="微软雅黑"/>
                <a:ea typeface="微软雅黑"/>
              </a:rPr>
              <a:t>验证方法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04088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▪ Python Golden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Model：独立调用</a:t>
            </a: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math.exp</a:t>
            </a: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()，3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场景（手算</a:t>
            </a: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 / ±3.5 /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极限位宽</a:t>
            </a: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）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▪ Testbench：4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定向</a:t>
            </a: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 + 200 随机（100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小范围</a:t>
            </a: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 + 100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全范围，含</a:t>
            </a: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 valid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气泡</a:t>
            </a: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）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dirty="0">
                <a:latin typeface="微软雅黑"/>
                <a:ea typeface="微软雅黑"/>
              </a:rPr>
              <a:t>▪ </a:t>
            </a:r>
            <a:r>
              <a:rPr sz="1600" b="1" dirty="0" err="1">
                <a:latin typeface="微软雅黑"/>
                <a:ea typeface="微软雅黑"/>
              </a:rPr>
              <a:t>代码特点：固定种子</a:t>
            </a:r>
            <a:r>
              <a:rPr sz="1600" b="1" dirty="0">
                <a:latin typeface="微软雅黑"/>
                <a:ea typeface="微软雅黑"/>
              </a:rPr>
              <a:t> 32'h2026_1004（可复现）；Case 2 </a:t>
            </a:r>
            <a:r>
              <a:rPr sz="1600" b="1" dirty="0" err="1">
                <a:latin typeface="微软雅黑"/>
                <a:ea typeface="微软雅黑"/>
              </a:rPr>
              <a:t>不复位测背对背</a:t>
            </a:r>
            <a:endParaRPr sz="1600" b="1" dirty="0">
              <a:latin typeface="微软雅黑"/>
              <a:ea typeface="微软雅黑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▪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逐项断言：score</a:t>
            </a: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 /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x_max</a:t>
            </a: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 / weight / L / ACC / O +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协议校验</a:t>
            </a:r>
            <a:endParaRPr sz="17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▪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综合：Vivado</a:t>
            </a: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 2023.2 / Artix-7 xc7a35tcsg324-1，通过</a:t>
            </a:r>
          </a:p>
        </p:txBody>
      </p:sp>
      <p:pic>
        <p:nvPicPr>
          <p:cNvPr id="4" name="Picture 3" descr="fig_00_rI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417320"/>
            <a:ext cx="3973419" cy="484632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3575976C-039C-0AD4-DA27-AF022A0EE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957" y="4232592"/>
            <a:ext cx="3362325" cy="1607185"/>
          </a:xfrm>
          <a:prstGeom prst="rect">
            <a:avLst/>
          </a:prstGeom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9FB69DAA-DB86-B774-E021-6F9B970627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0159" y="3977640"/>
            <a:ext cx="2184635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72428"/>
            <a:ext cx="2064190" cy="933412"/>
          </a:xfrm>
          <a:prstGeom prst="rect">
            <a:avLst/>
          </a:prstGeom>
          <a:solidFill>
            <a:srgbClr val="1F3B63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91440" bIns="36576" rtlCol="0" anchor="ctr"/>
          <a:lstStyle/>
          <a:p>
            <a:pPr algn="ctr"/>
            <a:r>
              <a:rPr sz="2600" b="1">
                <a:solidFill>
                  <a:schemeClr val="tx1"/>
                </a:solidFill>
                <a:latin typeface="微软雅黑"/>
                <a:ea typeface="微软雅黑"/>
              </a:rPr>
              <a:t>仿真波形</a:t>
            </a:r>
          </a:p>
        </p:txBody>
      </p:sp>
      <p:pic>
        <p:nvPicPr>
          <p:cNvPr id="3" name="Picture 2" descr="fig_03_rI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30" y="1211580"/>
            <a:ext cx="4552042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40680"/>
            <a:ext cx="3931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 err="1">
                <a:latin typeface="微软雅黑"/>
                <a:ea typeface="微软雅黑"/>
              </a:rPr>
              <a:t>总览图：FSM</a:t>
            </a:r>
            <a:r>
              <a:rPr sz="1100" b="1" dirty="0">
                <a:latin typeface="微软雅黑"/>
                <a:ea typeface="微软雅黑"/>
              </a:rPr>
              <a:t> </a:t>
            </a:r>
            <a:r>
              <a:rPr sz="1100" b="1" dirty="0" err="1">
                <a:latin typeface="微软雅黑"/>
                <a:ea typeface="微软雅黑"/>
              </a:rPr>
              <a:t>全流程跑通</a:t>
            </a:r>
            <a:endParaRPr sz="1100" b="1" dirty="0"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6320" y="5440680"/>
            <a:ext cx="6583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latin typeface="微软雅黑"/>
                <a:ea typeface="微软雅黑"/>
              </a:rPr>
              <a:t>Case 1 </a:t>
            </a:r>
            <a:r>
              <a:rPr sz="1100" b="1" dirty="0" err="1">
                <a:latin typeface="微软雅黑"/>
                <a:ea typeface="微软雅黑"/>
              </a:rPr>
              <a:t>输出放大：out_valid</a:t>
            </a:r>
            <a:r>
              <a:rPr sz="1100" b="1" dirty="0">
                <a:latin typeface="微软雅黑"/>
                <a:ea typeface="微软雅黑"/>
              </a:rPr>
              <a:t>/</a:t>
            </a:r>
            <a:r>
              <a:rPr sz="1100" b="1" dirty="0" err="1">
                <a:latin typeface="微软雅黑"/>
                <a:ea typeface="微软雅黑"/>
              </a:rPr>
              <a:t>out_data</a:t>
            </a:r>
            <a:r>
              <a:rPr sz="1100" b="1" dirty="0">
                <a:latin typeface="微软雅黑"/>
                <a:ea typeface="微软雅黑"/>
              </a:rPr>
              <a:t>/done </a:t>
            </a:r>
            <a:r>
              <a:rPr sz="1100" b="1" dirty="0" err="1">
                <a:latin typeface="微软雅黑"/>
                <a:ea typeface="微软雅黑"/>
              </a:rPr>
              <a:t>时序</a:t>
            </a:r>
            <a:endParaRPr sz="1100" b="1" dirty="0"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 err="1">
                <a:solidFill>
                  <a:srgbClr val="7F7F7F"/>
                </a:solidFill>
                <a:latin typeface="微软雅黑"/>
                <a:ea typeface="微软雅黑"/>
              </a:rPr>
              <a:t>作用：证明整个</a:t>
            </a:r>
            <a:r>
              <a:rPr sz="1200" b="0" dirty="0">
                <a:solidFill>
                  <a:srgbClr val="7F7F7F"/>
                </a:solidFill>
                <a:latin typeface="微软雅黑"/>
                <a:ea typeface="微软雅黑"/>
              </a:rPr>
              <a:t> FSM </a:t>
            </a:r>
            <a:r>
              <a:rPr sz="1200" b="0" dirty="0" err="1">
                <a:solidFill>
                  <a:srgbClr val="7F7F7F"/>
                </a:solidFill>
                <a:latin typeface="微软雅黑"/>
                <a:ea typeface="微软雅黑"/>
              </a:rPr>
              <a:t>流程完整跑通；专门证明输出数据与有效信号的时序关系</a:t>
            </a:r>
            <a:r>
              <a:rPr lang="zh-CN" altLang="en-US" sz="1200" b="0" dirty="0">
                <a:solidFill>
                  <a:srgbClr val="7F7F7F"/>
                </a:solidFill>
                <a:latin typeface="微软雅黑"/>
                <a:ea typeface="微软雅黑"/>
              </a:rPr>
              <a:t>（</a:t>
            </a:r>
            <a:r>
              <a:rPr lang="en-US" altLang="zh-CN" sz="1200" b="0" dirty="0">
                <a:solidFill>
                  <a:srgbClr val="7F7F7F"/>
                </a:solidFill>
                <a:latin typeface="微软雅黑"/>
                <a:ea typeface="微软雅黑"/>
              </a:rPr>
              <a:t>PS</a:t>
            </a:r>
            <a:r>
              <a:rPr lang="zh-CN" altLang="en-US" sz="1200" b="0" dirty="0">
                <a:solidFill>
                  <a:srgbClr val="7F7F7F"/>
                </a:solidFill>
                <a:latin typeface="微软雅黑"/>
                <a:ea typeface="微软雅黑"/>
              </a:rPr>
              <a:t>总览图</a:t>
            </a:r>
            <a:r>
              <a:rPr lang="en-US" altLang="zh-CN" sz="1200" b="0" dirty="0">
                <a:solidFill>
                  <a:srgbClr val="7F7F7F"/>
                </a:solidFill>
                <a:latin typeface="微软雅黑"/>
                <a:ea typeface="微软雅黑"/>
              </a:rPr>
              <a:t>state</a:t>
            </a:r>
            <a:r>
              <a:rPr lang="zh-CN" altLang="en-US" sz="1200" b="0" dirty="0">
                <a:solidFill>
                  <a:srgbClr val="7F7F7F"/>
                </a:solidFill>
                <a:latin typeface="微软雅黑"/>
                <a:ea typeface="微软雅黑"/>
              </a:rPr>
              <a:t>全清晰版</a:t>
            </a:r>
            <a:r>
              <a:rPr lang="en-US" altLang="zh-CN" sz="1200" b="0" dirty="0">
                <a:solidFill>
                  <a:srgbClr val="7F7F7F"/>
                </a:solidFill>
                <a:latin typeface="微软雅黑"/>
                <a:ea typeface="微软雅黑"/>
              </a:rPr>
              <a:t>3</a:t>
            </a:r>
            <a:r>
              <a:rPr lang="zh-CN" altLang="en-US" sz="1200" b="0" dirty="0">
                <a:solidFill>
                  <a:srgbClr val="7F7F7F"/>
                </a:solidFill>
                <a:latin typeface="微软雅黑"/>
                <a:ea typeface="微软雅黑"/>
              </a:rPr>
              <a:t>张在报告里）</a:t>
            </a:r>
            <a:endParaRPr sz="1200" b="0" dirty="0">
              <a:solidFill>
                <a:srgbClr val="7F7F7F"/>
              </a:solidFill>
              <a:latin typeface="微软雅黑"/>
              <a:ea typeface="微软雅黑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BCB4278-3EC9-5C52-61CC-928BDB1268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697" y="944078"/>
            <a:ext cx="7114673" cy="43759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3558012" cy="1005840"/>
          </a:xfrm>
          <a:prstGeom prst="rect">
            <a:avLst/>
          </a:prstGeom>
          <a:solidFill>
            <a:srgbClr val="1F3B63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91440" bIns="36576" rtlCol="0" anchor="ctr"/>
          <a:lstStyle/>
          <a:p>
            <a:pPr algn="ctr"/>
            <a:r>
              <a:rPr sz="2600" b="1">
                <a:solidFill>
                  <a:schemeClr val="tx1"/>
                </a:solidFill>
                <a:latin typeface="微软雅黑"/>
                <a:ea typeface="微软雅黑"/>
              </a:rPr>
              <a:t>周期数与性能分析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88720"/>
          <a:ext cx="6400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周期</a:t>
                      </a:r>
                    </a:p>
                  </a:txBody>
                  <a:tcPr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周期</a:t>
                      </a:r>
                    </a:p>
                  </a:txBody>
                  <a:tcPr>
                    <a:solidFill>
                      <a:srgbClr val="1F3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LOAD_Q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ACCUM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LOAD_KV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DOT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OUTPUT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EXP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（不含 IDLE）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rgbClr val="EE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0492" y="3610523"/>
            <a:ext cx="10972800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▪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资源：LUT</a:t>
            </a: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 809 (3.89%) / FF 887 (2.13%) / DSP 0 / BRAM 0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 dirty="0">
                <a:solidFill>
                  <a:srgbClr val="1F3B63"/>
                </a:solidFill>
                <a:latin typeface="微软雅黑"/>
                <a:ea typeface="微软雅黑"/>
              </a:rPr>
              <a:t>▪ S：8 → 256 </a:t>
            </a:r>
            <a:r>
              <a:rPr sz="1800" b="1" dirty="0" err="1">
                <a:solidFill>
                  <a:srgbClr val="1F3B63"/>
                </a:solidFill>
                <a:latin typeface="微软雅黑"/>
                <a:ea typeface="微软雅黑"/>
              </a:rPr>
              <a:t>扩展</a:t>
            </a:r>
            <a:endParaRPr sz="1800" b="1" dirty="0">
              <a:solidFill>
                <a:srgbClr val="1F3B63"/>
              </a:solidFill>
              <a:latin typeface="微软雅黑"/>
              <a:ea typeface="微软雅黑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– 周期：124 → 约 3596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– K/V Buffer：256bit → 8Kbit×2，需由寄存器转 BRAM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– 外部带宽：64 → 2048 个 8-bit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数据，访存成为瓶颈</a:t>
            </a:r>
            <a:endParaRPr lang="en-US" sz="17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endParaRPr lang="en-US" sz="170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endParaRPr sz="17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350A100-51F7-8346-793E-4E7C0A0676FD}"/>
              </a:ext>
            </a:extLst>
          </p:cNvPr>
          <p:cNvSpPr txBox="1"/>
          <p:nvPr/>
        </p:nvSpPr>
        <p:spPr>
          <a:xfrm>
            <a:off x="540492" y="3610523"/>
            <a:ext cx="10972800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▪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资源：LUT</a:t>
            </a: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 809 (3.89%) / FF 887 (2.13%) / DSP 0 / BRAM 0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 dirty="0">
                <a:latin typeface="微软雅黑"/>
                <a:ea typeface="微软雅黑"/>
              </a:rPr>
              <a:t>▪ S：8 → 256 </a:t>
            </a:r>
            <a:r>
              <a:rPr sz="1800" b="1" dirty="0" err="1">
                <a:latin typeface="微软雅黑"/>
                <a:ea typeface="微软雅黑"/>
              </a:rPr>
              <a:t>扩展</a:t>
            </a:r>
            <a:endParaRPr sz="1800" b="1" dirty="0">
              <a:latin typeface="微软雅黑"/>
              <a:ea typeface="微软雅黑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– 周期：124 → 约 3596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– K/V Buffer：256bit → 8Kbit×2，需由寄存器转 BRAM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– 外部带宽：64 → 2048 个 8-bit </a:t>
            </a:r>
            <a:r>
              <a:rPr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数据，访存成为瓶颈</a:t>
            </a:r>
            <a:endParaRPr lang="en-US" sz="17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endParaRPr lang="en-US" altLang="zh-CN" sz="17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lang="zh-CN" altLang="en-US" sz="1700" b="0" dirty="0">
                <a:solidFill>
                  <a:srgbClr val="333333"/>
                </a:solidFill>
                <a:latin typeface="微软雅黑"/>
                <a:ea typeface="微软雅黑"/>
              </a:rPr>
              <a:t>进一步扩展到 </a:t>
            </a:r>
            <a:r>
              <a:rPr lang="en-US" altLang="zh-CN" sz="1700" b="0" dirty="0">
                <a:solidFill>
                  <a:srgbClr val="333333"/>
                </a:solidFill>
                <a:latin typeface="微软雅黑"/>
                <a:ea typeface="微软雅黑"/>
              </a:rPr>
              <a:t>[256,64]</a:t>
            </a:r>
            <a:r>
              <a:rPr lang="zh-CN" altLang="en-US" sz="1700" b="0" dirty="0">
                <a:solidFill>
                  <a:srgbClr val="333333"/>
                </a:solidFill>
                <a:latin typeface="微软雅黑"/>
                <a:ea typeface="微软雅黑"/>
              </a:rPr>
              <a:t>：</a:t>
            </a:r>
            <a:r>
              <a:rPr lang="en-US" sz="1700" b="0" dirty="0">
                <a:solidFill>
                  <a:srgbClr val="333333"/>
                </a:solidFill>
                <a:latin typeface="微软雅黑"/>
                <a:ea typeface="微软雅黑"/>
              </a:rPr>
              <a:t>Token </a:t>
            </a:r>
            <a:r>
              <a:rPr lang="zh-CN" altLang="en-US" sz="1700" b="0" dirty="0">
                <a:solidFill>
                  <a:srgbClr val="333333"/>
                </a:solidFill>
                <a:latin typeface="微软雅黑"/>
                <a:ea typeface="微软雅黑"/>
              </a:rPr>
              <a:t>和维度增大后，计算量、中间 </a:t>
            </a:r>
            <a:r>
              <a:rPr lang="en-US" sz="1700" b="0" dirty="0">
                <a:solidFill>
                  <a:srgbClr val="333333"/>
                </a:solidFill>
                <a:latin typeface="微软雅黑"/>
                <a:ea typeface="微软雅黑"/>
              </a:rPr>
              <a:t>Score </a:t>
            </a:r>
            <a:r>
              <a:rPr lang="zh-CN" altLang="en-US" sz="1700" b="0" dirty="0">
                <a:solidFill>
                  <a:srgbClr val="333333"/>
                </a:solidFill>
                <a:latin typeface="微软雅黑"/>
                <a:ea typeface="微软雅黑"/>
              </a:rPr>
              <a:t>存储和数据搬运量都会显著增加。可采用 分块计算（</a:t>
            </a:r>
            <a:r>
              <a:rPr lang="en-US" sz="1700" b="0" dirty="0">
                <a:solidFill>
                  <a:srgbClr val="333333"/>
                </a:solidFill>
                <a:latin typeface="微软雅黑"/>
                <a:ea typeface="微软雅黑"/>
              </a:rPr>
              <a:t>Tiling）+ BRAM </a:t>
            </a:r>
            <a:r>
              <a:rPr lang="zh-CN" altLang="en-US" sz="1700" b="0" dirty="0">
                <a:solidFill>
                  <a:srgbClr val="333333"/>
                </a:solidFill>
                <a:latin typeface="微软雅黑"/>
                <a:ea typeface="微软雅黑"/>
              </a:rPr>
              <a:t>缓存 </a:t>
            </a:r>
            <a:r>
              <a:rPr lang="en-US" altLang="zh-CN" sz="1700" b="0" dirty="0">
                <a:solidFill>
                  <a:srgbClr val="333333"/>
                </a:solidFill>
                <a:latin typeface="微软雅黑"/>
                <a:ea typeface="微软雅黑"/>
              </a:rPr>
              <a:t>+ </a:t>
            </a:r>
            <a:r>
              <a:rPr lang="en-US" sz="1700" b="0" dirty="0">
                <a:solidFill>
                  <a:srgbClr val="333333"/>
                </a:solidFill>
                <a:latin typeface="微软雅黑"/>
                <a:ea typeface="微软雅黑"/>
              </a:rPr>
              <a:t>Online </a:t>
            </a:r>
            <a:r>
              <a:rPr lang="en-US"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Softmax</a:t>
            </a:r>
            <a:r>
              <a:rPr lang="en-US" sz="1700" b="0" dirty="0">
                <a:solidFill>
                  <a:srgbClr val="333333"/>
                </a:solidFill>
                <a:latin typeface="微软雅黑"/>
                <a:ea typeface="微软雅黑"/>
              </a:rPr>
              <a:t>，</a:t>
            </a:r>
            <a:r>
              <a:rPr lang="zh-CN" altLang="en-US" sz="1700" b="0" dirty="0">
                <a:solidFill>
                  <a:srgbClr val="333333"/>
                </a:solidFill>
                <a:latin typeface="微软雅黑"/>
                <a:ea typeface="微软雅黑"/>
              </a:rPr>
              <a:t>减少完整 </a:t>
            </a:r>
            <a:r>
              <a:rPr lang="en-US" sz="1700" b="0" dirty="0">
                <a:solidFill>
                  <a:srgbClr val="333333"/>
                </a:solidFill>
                <a:latin typeface="微软雅黑"/>
                <a:ea typeface="微软雅黑"/>
              </a:rPr>
              <a:t>Score </a:t>
            </a:r>
            <a:r>
              <a:rPr lang="zh-CN" altLang="en-US" sz="1700" b="0" dirty="0">
                <a:solidFill>
                  <a:srgbClr val="333333"/>
                </a:solidFill>
                <a:latin typeface="微软雅黑"/>
                <a:ea typeface="微软雅黑"/>
              </a:rPr>
              <a:t>矩阵的存储和外部访存，思路与 </a:t>
            </a:r>
            <a:r>
              <a:rPr lang="en-US" sz="1700" b="0" dirty="0" err="1">
                <a:solidFill>
                  <a:srgbClr val="333333"/>
                </a:solidFill>
                <a:latin typeface="微软雅黑"/>
                <a:ea typeface="微软雅黑"/>
              </a:rPr>
              <a:t>FlashAttention</a:t>
            </a:r>
            <a:r>
              <a:rPr lang="en-US" sz="1700" b="0" dirty="0">
                <a:solidFill>
                  <a:srgbClr val="333333"/>
                </a:solidFill>
                <a:latin typeface="微软雅黑"/>
                <a:ea typeface="微软雅黑"/>
              </a:rPr>
              <a:t> </a:t>
            </a:r>
            <a:r>
              <a:rPr lang="zh-CN" altLang="en-US" sz="1700" b="0" dirty="0">
                <a:solidFill>
                  <a:srgbClr val="333333"/>
                </a:solidFill>
                <a:latin typeface="微软雅黑"/>
                <a:ea typeface="微软雅黑"/>
              </a:rPr>
              <a:t>类似。（</a:t>
            </a:r>
            <a:r>
              <a:rPr lang="en-US" altLang="zh-CN" sz="1700" b="0" dirty="0">
                <a:solidFill>
                  <a:srgbClr val="333333"/>
                </a:solidFill>
                <a:latin typeface="微软雅黑"/>
                <a:ea typeface="微软雅黑"/>
              </a:rPr>
              <a:t>G</a:t>
            </a:r>
            <a:r>
              <a:rPr lang="zh-CN" altLang="en-US" sz="1700" b="0" dirty="0">
                <a:solidFill>
                  <a:srgbClr val="333333"/>
                </a:solidFill>
                <a:latin typeface="微软雅黑"/>
                <a:ea typeface="微软雅黑"/>
              </a:rPr>
              <a:t>项调研）</a:t>
            </a:r>
            <a:endParaRPr sz="17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334978"/>
            <a:ext cx="4001632" cy="670862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91440" bIns="36576" rtlCol="0" anchor="ctr"/>
          <a:lstStyle/>
          <a:p>
            <a:pPr algn="ctr"/>
            <a:r>
              <a:rPr sz="2600" b="1">
                <a:solidFill>
                  <a:schemeClr val="tx1"/>
                </a:solidFill>
                <a:latin typeface="微软雅黑"/>
                <a:ea typeface="微软雅黑"/>
              </a:rPr>
              <a:t>遇到的问题与改进方向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380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 dirty="0">
                <a:latin typeface="微软雅黑"/>
                <a:ea typeface="微软雅黑"/>
              </a:rPr>
              <a:t>▪ </a:t>
            </a:r>
            <a:r>
              <a:rPr sz="1800" b="1" dirty="0" err="1">
                <a:latin typeface="微软雅黑"/>
                <a:ea typeface="微软雅黑"/>
              </a:rPr>
              <a:t>遇到的问题</a:t>
            </a:r>
            <a:endParaRPr sz="1800" b="1" dirty="0">
              <a:latin typeface="微软雅黑"/>
              <a:ea typeface="微软雅黑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lang="zh-CN" altLang="en-US" sz="1700" b="0" dirty="0">
                <a:latin typeface="微软雅黑"/>
                <a:ea typeface="微软雅黑"/>
              </a:rPr>
              <a:t>①代码无误但波形图怎么都找不到</a:t>
            </a:r>
            <a:r>
              <a:rPr lang="en-US" altLang="zh-CN" sz="1700" b="0" dirty="0">
                <a:latin typeface="微软雅黑"/>
                <a:ea typeface="微软雅黑"/>
              </a:rPr>
              <a:t>done</a:t>
            </a:r>
            <a:r>
              <a:rPr lang="zh-CN" altLang="en-US" sz="1700" b="0" dirty="0">
                <a:latin typeface="微软雅黑"/>
                <a:ea typeface="微软雅黑"/>
              </a:rPr>
              <a:t>的变化值，才知道需要加长仿真时间，也了解到其他可能的原因比如时序块用阻塞赋值引起的竞争、代码写错使得状态机卡死。</a:t>
            </a:r>
            <a:endParaRPr lang="en-US" altLang="zh-CN" sz="1700" b="0" dirty="0">
              <a:latin typeface="微软雅黑"/>
              <a:ea typeface="微软雅黑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lang="zh-CN" altLang="en-US" sz="1700" b="0" dirty="0">
                <a:latin typeface="微软雅黑"/>
                <a:ea typeface="微软雅黑"/>
              </a:rPr>
              <a:t>②还有的地方因为阻塞堵塞和非阻塞堵塞的概念用法引起了些疑问</a:t>
            </a:r>
            <a:endParaRPr lang="en-US" altLang="zh-CN" sz="1700" b="0" dirty="0">
              <a:latin typeface="微软雅黑"/>
              <a:ea typeface="微软雅黑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lang="zh-CN" altLang="en-US" sz="1700" b="0" dirty="0">
                <a:latin typeface="微软雅黑"/>
                <a:ea typeface="微软雅黑"/>
              </a:rPr>
              <a:t>③位宽设计上一些不同</a:t>
            </a:r>
            <a:r>
              <a:rPr lang="en-US" altLang="zh-CN" sz="1700" b="0" dirty="0">
                <a:latin typeface="微软雅黑"/>
                <a:ea typeface="微软雅黑"/>
              </a:rPr>
              <a:t>bit</a:t>
            </a:r>
            <a:r>
              <a:rPr lang="zh-CN" altLang="en-US" sz="1700" b="0" dirty="0">
                <a:latin typeface="微软雅黑"/>
                <a:ea typeface="微软雅黑"/>
              </a:rPr>
              <a:t>的数范围希望在之后的学习中能更加熟悉，不然在位宽计算上容易卡壳等等</a:t>
            </a:r>
            <a:endParaRPr sz="1700" b="0" dirty="0">
              <a:latin typeface="微软雅黑"/>
              <a:ea typeface="微软雅黑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 dirty="0">
                <a:latin typeface="微软雅黑"/>
                <a:ea typeface="微软雅黑"/>
              </a:rPr>
              <a:t>▪ </a:t>
            </a:r>
            <a:r>
              <a:rPr sz="1800" b="1" dirty="0" err="1">
                <a:latin typeface="微软雅黑"/>
                <a:ea typeface="微软雅黑"/>
              </a:rPr>
              <a:t>改进方向</a:t>
            </a:r>
            <a:endParaRPr lang="en-US" sz="1800" b="1" dirty="0">
              <a:latin typeface="微软雅黑"/>
              <a:ea typeface="微软雅黑"/>
            </a:endParaRP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lang="en-US" altLang="zh-CN" b="1" dirty="0">
                <a:latin typeface="微软雅黑"/>
                <a:ea typeface="微软雅黑"/>
              </a:rPr>
              <a:t>	</a:t>
            </a:r>
            <a:r>
              <a:rPr lang="zh-CN" altLang="en-US" sz="1700" b="0" dirty="0">
                <a:latin typeface="微软雅黑"/>
                <a:ea typeface="微软雅黑"/>
              </a:rPr>
              <a:t>基础功能基本完善，之后可以从性能、精度、通用性和接口能力等继续优化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lang="zh-CN" altLang="en-US" sz="1700" b="0" dirty="0">
                <a:latin typeface="微软雅黑"/>
                <a:ea typeface="微软雅黑"/>
              </a:rPr>
              <a:t>（</a:t>
            </a:r>
            <a:r>
              <a:rPr lang="en-US" altLang="zh-CN" sz="1700" b="0" dirty="0">
                <a:latin typeface="微软雅黑"/>
                <a:ea typeface="微软雅黑"/>
              </a:rPr>
              <a:t>1</a:t>
            </a:r>
            <a:r>
              <a:rPr lang="zh-CN" altLang="en-US" sz="1700" b="0" dirty="0">
                <a:latin typeface="微软雅黑"/>
                <a:ea typeface="微软雅黑"/>
              </a:rPr>
              <a:t>）提高并行度：增加乘法器，减少 </a:t>
            </a:r>
            <a:r>
              <a:rPr lang="en-US" altLang="zh-CN" sz="1700" b="0" dirty="0">
                <a:latin typeface="微软雅黑"/>
                <a:ea typeface="微软雅黑"/>
              </a:rPr>
              <a:t>DOT </a:t>
            </a:r>
            <a:r>
              <a:rPr lang="zh-CN" altLang="en-US" sz="1700" b="0" dirty="0">
                <a:latin typeface="微软雅黑"/>
                <a:ea typeface="微软雅黑"/>
              </a:rPr>
              <a:t>和 </a:t>
            </a:r>
            <a:r>
              <a:rPr lang="en-US" altLang="zh-CN" sz="1700" b="0" dirty="0">
                <a:latin typeface="微软雅黑"/>
                <a:ea typeface="微软雅黑"/>
              </a:rPr>
              <a:t>ACCUM </a:t>
            </a:r>
            <a:r>
              <a:rPr lang="zh-CN" altLang="en-US" sz="1700" b="0" dirty="0">
                <a:latin typeface="微软雅黑"/>
                <a:ea typeface="微软雅黑"/>
              </a:rPr>
              <a:t>周期；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lang="zh-CN" altLang="en-US" sz="1700" b="0" dirty="0">
                <a:latin typeface="微软雅黑"/>
                <a:ea typeface="微软雅黑"/>
              </a:rPr>
              <a:t>（</a:t>
            </a:r>
            <a:r>
              <a:rPr lang="en-US" altLang="zh-CN" sz="1700" b="0" dirty="0">
                <a:latin typeface="微软雅黑"/>
                <a:ea typeface="微软雅黑"/>
              </a:rPr>
              <a:t>2</a:t>
            </a:r>
            <a:r>
              <a:rPr lang="zh-CN" altLang="en-US" sz="1700" b="0" dirty="0">
                <a:latin typeface="微软雅黑"/>
                <a:ea typeface="微软雅黑"/>
              </a:rPr>
              <a:t>）流水线</a:t>
            </a:r>
            <a:r>
              <a:rPr lang="en-US" altLang="zh-CN" sz="1700" b="0" dirty="0">
                <a:latin typeface="微软雅黑"/>
                <a:ea typeface="微软雅黑"/>
              </a:rPr>
              <a:t>/</a:t>
            </a:r>
            <a:r>
              <a:rPr lang="zh-CN" altLang="en-US" sz="1700" b="0" dirty="0">
                <a:latin typeface="微软雅黑"/>
                <a:ea typeface="微软雅黑"/>
              </a:rPr>
              <a:t>并行优化以缩短周期（加分项 </a:t>
            </a:r>
            <a:r>
              <a:rPr lang="en-US" altLang="zh-CN" sz="1700" b="0" dirty="0">
                <a:latin typeface="微软雅黑"/>
                <a:ea typeface="微软雅黑"/>
              </a:rPr>
              <a:t>B</a:t>
            </a:r>
            <a:r>
              <a:rPr lang="zh-CN" altLang="en-US" sz="1700" b="0" dirty="0">
                <a:latin typeface="微软雅黑"/>
                <a:ea typeface="微软雅黑"/>
              </a:rPr>
              <a:t>）；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lang="zh-CN" altLang="en-US" sz="1700" b="0" dirty="0">
                <a:latin typeface="微软雅黑"/>
                <a:ea typeface="微软雅黑"/>
              </a:rPr>
              <a:t>（</a:t>
            </a:r>
            <a:r>
              <a:rPr lang="en-US" altLang="zh-CN" sz="1700" b="0" dirty="0">
                <a:latin typeface="微软雅黑"/>
                <a:ea typeface="微软雅黑"/>
              </a:rPr>
              <a:t>3</a:t>
            </a:r>
            <a:r>
              <a:rPr lang="zh-CN" altLang="en-US" sz="1700" b="0" dirty="0">
                <a:latin typeface="微软雅黑"/>
                <a:ea typeface="微软雅黑"/>
              </a:rPr>
              <a:t>）采用分段 </a:t>
            </a:r>
            <a:r>
              <a:rPr lang="en-US" altLang="zh-CN" sz="1700" b="0" dirty="0">
                <a:latin typeface="微软雅黑"/>
                <a:ea typeface="微软雅黑"/>
              </a:rPr>
              <a:t>LUT </a:t>
            </a:r>
            <a:r>
              <a:rPr lang="zh-CN" altLang="en-US" sz="1700" b="0" dirty="0">
                <a:latin typeface="微软雅黑"/>
                <a:ea typeface="微软雅黑"/>
              </a:rPr>
              <a:t>或线性插值等更精细的指数实现（加分项 </a:t>
            </a:r>
            <a:r>
              <a:rPr lang="en-US" altLang="zh-CN" sz="1700" b="0" dirty="0">
                <a:latin typeface="微软雅黑"/>
                <a:ea typeface="微软雅黑"/>
              </a:rPr>
              <a:t>E/F</a:t>
            </a:r>
            <a:r>
              <a:rPr lang="zh-CN" altLang="en-US" sz="1700" b="0" dirty="0">
                <a:latin typeface="微软雅黑"/>
                <a:ea typeface="微软雅黑"/>
              </a:rPr>
              <a:t>）；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lang="zh-CN" altLang="en-US" sz="1700" b="0" dirty="0">
                <a:latin typeface="微软雅黑"/>
                <a:ea typeface="微软雅黑"/>
              </a:rPr>
              <a:t>（</a:t>
            </a:r>
            <a:r>
              <a:rPr lang="en-US" altLang="zh-CN" sz="1700" b="0" dirty="0">
                <a:latin typeface="微软雅黑"/>
                <a:ea typeface="微软雅黑"/>
              </a:rPr>
              <a:t>4</a:t>
            </a:r>
            <a:r>
              <a:rPr lang="zh-CN" altLang="en-US" sz="1700" b="0" dirty="0">
                <a:latin typeface="微软雅黑"/>
                <a:ea typeface="微软雅黑"/>
              </a:rPr>
              <a:t>）提高 </a:t>
            </a:r>
            <a:r>
              <a:rPr lang="en-US" altLang="zh-CN" sz="1700" b="0" dirty="0">
                <a:latin typeface="微软雅黑"/>
                <a:ea typeface="微软雅黑"/>
              </a:rPr>
              <a:t>EXP LUT </a:t>
            </a:r>
            <a:r>
              <a:rPr lang="zh-CN" altLang="en-US" sz="1700" b="0" dirty="0">
                <a:latin typeface="微软雅黑"/>
                <a:ea typeface="微软雅黑"/>
              </a:rPr>
              <a:t>精度：增加查表点或提高定点精度；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3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457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9215" y="1371600"/>
            <a:ext cx="106984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dirty="0" err="1">
                <a:latin typeface="微软雅黑"/>
                <a:ea typeface="微软雅黑"/>
              </a:rPr>
              <a:t>总结</a:t>
            </a:r>
            <a:endParaRPr sz="3400" b="1" dirty="0"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100584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▪ </a:t>
            </a:r>
            <a:r>
              <a:rPr sz="18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完成功能正确、可综合、可解释的基础</a:t>
            </a:r>
            <a:r>
              <a:rPr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 Attention RTL IP</a:t>
            </a:r>
          </a:p>
          <a:p>
            <a:pPr>
              <a:spcAft>
                <a:spcPts val="1200"/>
              </a:spcAft>
            </a:pPr>
            <a:r>
              <a:rPr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▪ </a:t>
            </a:r>
            <a:r>
              <a:rPr sz="18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实现</a:t>
            </a:r>
            <a:r>
              <a:rPr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 </a:t>
            </a:r>
            <a:r>
              <a:rPr sz="18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x_max</a:t>
            </a:r>
            <a:r>
              <a:rPr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 </a:t>
            </a:r>
            <a:r>
              <a:rPr sz="18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稳定</a:t>
            </a:r>
            <a:r>
              <a:rPr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 </a:t>
            </a:r>
            <a:r>
              <a:rPr sz="18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Softmax</a:t>
            </a:r>
            <a:r>
              <a:rPr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 </a:t>
            </a:r>
            <a:r>
              <a:rPr sz="18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与自实现指数</a:t>
            </a:r>
            <a:r>
              <a:rPr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 </a:t>
            </a:r>
            <a:r>
              <a:rPr sz="18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LUT，位宽合理，接口符合约定</a:t>
            </a:r>
            <a:endParaRPr sz="1800" b="0" dirty="0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</a:endParaRPr>
          </a:p>
          <a:p>
            <a:pPr>
              <a:spcAft>
                <a:spcPts val="1200"/>
              </a:spcAft>
            </a:pPr>
            <a:r>
              <a:rPr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▪ </a:t>
            </a:r>
            <a:r>
              <a:rPr sz="18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通过</a:t>
            </a:r>
            <a:r>
              <a:rPr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 Golden Model 与 200 </a:t>
            </a:r>
            <a:r>
              <a:rPr sz="18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组随机用例逐项验证</a:t>
            </a:r>
            <a:endParaRPr sz="1800" b="0" dirty="0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</a:endParaRPr>
          </a:p>
          <a:p>
            <a:pPr>
              <a:spcAft>
                <a:spcPts val="1200"/>
              </a:spcAft>
            </a:pPr>
            <a:r>
              <a:rPr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▪ </a:t>
            </a:r>
            <a:r>
              <a:rPr sz="18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对照基础验收各项（编译</a:t>
            </a:r>
            <a:r>
              <a:rPr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/</a:t>
            </a:r>
            <a:r>
              <a:rPr sz="18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功能</a:t>
            </a:r>
            <a:r>
              <a:rPr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/</a:t>
            </a:r>
            <a:r>
              <a:rPr sz="18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时序</a:t>
            </a:r>
            <a:r>
              <a:rPr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/</a:t>
            </a:r>
            <a:r>
              <a:rPr sz="18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结构</a:t>
            </a:r>
            <a:r>
              <a:rPr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/</a:t>
            </a:r>
            <a:r>
              <a:rPr sz="18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可解释性）均已覆盖</a:t>
            </a:r>
            <a:endParaRPr sz="1800" b="0" dirty="0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698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谢谢！请各位评委提问</a:t>
            </a:r>
            <a:endParaRPr sz="2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7349</TotalTime>
  <Words>1567</Words>
  <Application>Microsoft Office PowerPoint</Application>
  <PresentationFormat>宽屏</PresentationFormat>
  <Paragraphs>143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 w</cp:lastModifiedBy>
  <cp:revision>9</cp:revision>
  <dcterms:created xsi:type="dcterms:W3CDTF">2013-01-27T09:14:16Z</dcterms:created>
  <dcterms:modified xsi:type="dcterms:W3CDTF">2026-10-12T10:07:03Z</dcterms:modified>
  <cp:category/>
</cp:coreProperties>
</file>